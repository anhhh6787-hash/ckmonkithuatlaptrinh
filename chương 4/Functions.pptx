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 Box 16"/>
          <p:cNvSpPr txBox="1"/>
          <p:nvPr/>
        </p:nvSpPr>
        <p:spPr>
          <a:xfrm>
            <a:off x="2924175" y="160020"/>
            <a:ext cx="6343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28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Functions</a:t>
            </a:r>
            <a:endParaRPr lang="vi-VN" altLang="en-US" sz="2800" b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46050" y="929640"/>
          <a:ext cx="3756025" cy="565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025"/>
              </a:tblGrid>
              <a:tr h="50482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Khái 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niệm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159510">
                <a:tc>
                  <a:txBody>
                    <a:bodyPr/>
                    <a:p>
                      <a:pPr algn="ctr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Là đoạn code được lưu trữ để dùng lại.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Giúp tránh lặp code, chia chương trình thành các phần dễ quản lí.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Có 2 loại: 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+ Built-in functions: print(), input(),...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+User-d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efined functions: tự định nghĩa bằng “def”.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073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Cách định </a:t>
                      </a: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nghĩa </a:t>
                      </a: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hàm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662430">
                <a:tc>
                  <a:txBody>
                    <a:bodyPr/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 từ khóa def.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Dấu “:” và thụt lề là bắt buộc.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định nghĩa hàm không chạy cho đến khi bạn gọi nó.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406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Functions Call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027430">
                <a:tc>
                  <a:txBody>
                    <a:bodyPr/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Gọi bằng cách viết tên hàm + ngoặc: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lnSpc>
                          <a:spcPct val="90000"/>
                        </a:lnSpc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Có thể gọi lại nhiều lần.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buNone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>
            <p:custDataLst>
              <p:tags r:id="rId2"/>
            </p:custDataLst>
          </p:nvPr>
        </p:nvGraphicFramePr>
        <p:xfrm>
          <a:off x="8246110" y="929640"/>
          <a:ext cx="3799840" cy="570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840"/>
              </a:tblGrid>
              <a:tr h="5981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Nhiều tham </a:t>
                      </a:r>
                      <a:r>
                        <a:rPr lang="vi-VN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số</a:t>
                      </a:r>
                      <a:endParaRPr lang="vi-VN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848360">
                <a:tc>
                  <a:txBody>
                    <a:bodyPr/>
                    <a:p>
                      <a:pPr algn="l"/>
                      <a:r>
                        <a:rPr lang="vi-VN" altLang="en-US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Functions có thể có nhiều tham số:</a:t>
                      </a:r>
                      <a:endParaRPr lang="vi-VN" altLang="en-US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54990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Type </a:t>
                      </a: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Conversion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2134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int(), float(), str(), để chuyển 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kiểu.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Lỗi nếu string không phải </a:t>
                      </a:r>
                      <a:r>
                        <a:rPr lang="vi-VN" altLang="en-US" sz="18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số:</a:t>
                      </a: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buNone/>
                      </a:pPr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Khi nào dùng hàm?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19951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Khi đoạn code thể hiện một ý n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ghĩa hoàn chỉnh.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Khi code bị lặp.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Khi chương trình dài và phức tạp, ta cần chia nhỏ thành từng phần.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Có thể tạo “library” gồm các hàm dùng nhiều lần.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3"/>
            </p:custDataLst>
          </p:nvPr>
        </p:nvGraphicFramePr>
        <p:xfrm>
          <a:off x="4210050" y="929640"/>
          <a:ext cx="3799840" cy="58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840"/>
              </a:tblGrid>
              <a:tr h="493395">
                <a:tc>
                  <a:txBody>
                    <a:bodyPr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Arguments &amp; </a:t>
                      </a: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Parameters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2569845">
                <a:tc>
                  <a:txBody>
                    <a:bodyPr/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Arguments: giá trị truyền vào khi gọi hàm.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Parameters: biến dùng trong định nghĩa hàm để nhận giá trị argument.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/>
                      <a:endParaRPr lang="vi-VN" altLang="en-US" sz="18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749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vi-VN" altLang="en-US" sz="1800" b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Trả về giá trị(Return Values)</a:t>
                      </a:r>
                      <a:endParaRPr lang="vi-VN" altLang="en-US" sz="1800" b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22942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Dùng “return” để trả về kết quả.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Hàm có return là fruitful function.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Hàm không có return là void function.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Ví dụ fruitful: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lnSpc>
                          <a:spcPct val="160000"/>
                        </a:lnSpc>
                        <a:buNone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lnSpc>
                          <a:spcPct val="160000"/>
                        </a:lnSpc>
                        <a:buNone/>
                      </a:pP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Vi dụ </a:t>
                      </a:r>
                      <a:r>
                        <a:rPr lang="vi-VN" altLang="en-US" sz="14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void:</a:t>
                      </a: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endParaRPr lang="vi-VN" altLang="en-US" sz="14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10" y="4501515"/>
            <a:ext cx="2971800" cy="533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6730" y="2132330"/>
            <a:ext cx="3514725" cy="1736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110" y="5890895"/>
            <a:ext cx="1657350" cy="314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730" y="5396230"/>
            <a:ext cx="1571625" cy="4178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6730" y="6117590"/>
            <a:ext cx="1743075" cy="5391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865" y="1842135"/>
            <a:ext cx="1571625" cy="4178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7865" y="3580130"/>
            <a:ext cx="2019300" cy="5143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4*391"/>
  <p:tag name="TABLE_ENDDRAG_RECT" val="18*98*284*391"/>
</p:tagLst>
</file>

<file path=ppt/tags/tag2.xml><?xml version="1.0" encoding="utf-8"?>
<p:tagLst xmlns:p="http://schemas.openxmlformats.org/presentationml/2006/main">
  <p:tag name="TABLE_ENDDRAG_ORIGIN_RECT" val="284*391"/>
  <p:tag name="TABLE_ENDDRAG_RECT" val="656*98*284*391"/>
</p:tagLst>
</file>

<file path=ppt/tags/tag3.xml><?xml version="1.0" encoding="utf-8"?>
<p:tagLst xmlns:p="http://schemas.openxmlformats.org/presentationml/2006/main">
  <p:tag name="TABLE_ENDDRAG_ORIGIN_RECT" val="284*391"/>
  <p:tag name="TABLE_ENDDRAG_RECT" val="337*98*284*3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WPS Presentation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LOQ</dc:creator>
  <cp:lastModifiedBy>Trịnh Gia Bảo</cp:lastModifiedBy>
  <cp:revision>3</cp:revision>
  <dcterms:created xsi:type="dcterms:W3CDTF">2025-07-23T00:59:00Z</dcterms:created>
  <dcterms:modified xsi:type="dcterms:W3CDTF">2025-11-18T13:24:49Z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688825302F1644608BEA94EB9BBA9C0E_11</vt:lpwstr>
  </property>
  <property fmtid="{D5CDD505-2E9C-101B-9397-08002B2CF9AE}" pid="3" name="KSOProductBuildVer">
    <vt:lpwstr>1033-12.2.0.23155</vt:lpwstr>
  </property>
</Properties>
</file>