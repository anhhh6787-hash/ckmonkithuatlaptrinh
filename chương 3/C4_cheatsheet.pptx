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1E5F6-21DC-7898-68A7-15E4C8F54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74D48F-2486-CA17-6493-6E156556C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D4657-68BD-F031-F79C-3700AD13B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7FE6-55CA-4D15-9B11-3EEE4909291F}" type="datetimeFigureOut">
              <a:rPr lang="vi-VN" smtClean="0"/>
              <a:t>18/11/2025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005E2-1AE8-DCBF-62AD-297D53EE1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AEAA5-A20A-29D4-EE95-BB27F1DCD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87C86-982F-4DEB-87F7-E1289333CFE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19197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FBA5-2383-89FA-FC6F-D7837B332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AFCE7-E4C6-1F88-A341-CDE40D3AD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41DFB-7F3F-F3C5-42A4-3A7539131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7FE6-55CA-4D15-9B11-3EEE4909291F}" type="datetimeFigureOut">
              <a:rPr lang="vi-VN" smtClean="0"/>
              <a:t>18/11/2025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8A067-31FC-774C-2A43-5CCD84121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F8883-A727-44D2-03DE-A1ECBA7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87C86-982F-4DEB-87F7-E1289333CFE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3051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F5D42-90C7-F156-8B2D-74E708DD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D3A05-03B9-4D97-969B-B749DD636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0710F-C030-87AE-26C2-EFDC9E936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7FE6-55CA-4D15-9B11-3EEE4909291F}" type="datetimeFigureOut">
              <a:rPr lang="vi-VN" smtClean="0"/>
              <a:t>18/11/2025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5D10E-4C37-BD8C-295E-08F58338F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8366F-103B-30B7-A764-A514C44E3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87C86-982F-4DEB-87F7-E1289333CFE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89299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7953B-8DC1-7B3F-FF46-0CCF0D3E7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3E102-225F-1BFA-2FEB-DC2336DB7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795B0-95CA-252E-D066-E15D9313F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3861C-38F7-3960-6FB4-66461F2D3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7FE6-55CA-4D15-9B11-3EEE4909291F}" type="datetimeFigureOut">
              <a:rPr lang="vi-VN" smtClean="0"/>
              <a:t>18/11/2025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F523B-29C7-8CD8-8492-5EE854C96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E5515-1E15-12D0-B37E-3CDA1A262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87C86-982F-4DEB-87F7-E1289333CFE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0968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006D1-1309-4330-20B7-C49CC8664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607AF-FC7E-453E-5D0F-F247D6105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287131-BAB0-7AF4-52AC-F8EFA5D0F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07E86C-1D21-8EF6-C433-F5EEE56C09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3AB7C9-6494-2E70-5585-6A7BA52735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CB3717-C3A4-53A3-BE19-22B4CC72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7FE6-55CA-4D15-9B11-3EEE4909291F}" type="datetimeFigureOut">
              <a:rPr lang="vi-VN" smtClean="0"/>
              <a:t>18/11/2025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F67629-ED88-6945-061A-BA03693CC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54385E-31C7-1466-44E6-4F672A33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87C86-982F-4DEB-87F7-E1289333CFE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6014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BA8A3-AEB7-723C-6EA5-9919994FF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155C8-14F7-2864-F281-769436C91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7FE6-55CA-4D15-9B11-3EEE4909291F}" type="datetimeFigureOut">
              <a:rPr lang="vi-VN" smtClean="0"/>
              <a:t>18/11/2025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FD754-51DE-369D-BBD3-90501934F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235B0-F5BB-AC9D-8063-1BDD2959F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87C86-982F-4DEB-87F7-E1289333CFE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2435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6EC654-635D-39BE-3CA1-6DCD78B51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7FE6-55CA-4D15-9B11-3EEE4909291F}" type="datetimeFigureOut">
              <a:rPr lang="vi-VN" smtClean="0"/>
              <a:t>18/11/2025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AD3806-2543-2DBD-9741-81158C2F7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F69CC-8C33-4347-AC17-E889725BC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87C86-982F-4DEB-87F7-E1289333CFE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37314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3189-6632-CE06-A7F0-CE0EEF0D3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367E8-AE28-F690-7854-D408B26A7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292AAF-4394-4D31-0EBE-90A48F0F5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7B1A7-193B-FC6A-8BBC-68E1CB36B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7FE6-55CA-4D15-9B11-3EEE4909291F}" type="datetimeFigureOut">
              <a:rPr lang="vi-VN" smtClean="0"/>
              <a:t>18/11/2025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2518A-511F-BC7A-CB33-DF5DCE0B2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15866-28C9-1D54-0B7C-785C38D33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87C86-982F-4DEB-87F7-E1289333CFE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96840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39A9-B746-C4EA-0ECC-8F4E307B0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B4CAB0-2320-B03D-4140-D99AFE1F46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6E0D3-B97D-896D-ADB6-335D124D18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C2909-3E6B-41A2-6C10-67B65D784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7FE6-55CA-4D15-9B11-3EEE4909291F}" type="datetimeFigureOut">
              <a:rPr lang="vi-VN" smtClean="0"/>
              <a:t>18/11/2025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CF81E-DC13-CD95-8E08-6D13E60E2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44C67-A5FA-7D1E-C826-9C558AB52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87C86-982F-4DEB-87F7-E1289333CFE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8118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6AF97-556A-44EA-A6C8-B4523BC2D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FD3F6-5943-4976-B0D8-E859D00A2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43FA6-B354-3D77-DE7B-54485ABC4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7FE6-55CA-4D15-9B11-3EEE4909291F}" type="datetimeFigureOut">
              <a:rPr lang="vi-VN" smtClean="0"/>
              <a:t>18/11/2025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C3AE0-42FF-7FA7-A480-8F9A6A863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DCCF7-FEBB-D035-DF7E-E577FF350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87C86-982F-4DEB-87F7-E1289333CFE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7276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6162AB-922F-F148-E28A-F58E38935D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5B01CE-0982-975C-3D2A-70E2D2C61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6363A-A39C-5A5F-2FFB-BED022F80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07FE6-55CA-4D15-9B11-3EEE4909291F}" type="datetimeFigureOut">
              <a:rPr lang="vi-VN" smtClean="0"/>
              <a:t>18/11/2025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1696A-6E21-C4FB-511C-3DB14C42A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EA2E-1830-ADC7-46AC-13D5CA8EE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87C86-982F-4DEB-87F7-E1289333CFE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34576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BB058C-70D7-C68E-F605-716863C4B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69505-57FF-4541-D51A-223F0E38E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14309-AFD6-A838-65E6-D07EEBC216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C07FE6-55CA-4D15-9B11-3EEE4909291F}" type="datetimeFigureOut">
              <a:rPr lang="vi-VN" smtClean="0"/>
              <a:t>18/11/2025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6E70B-FFB5-8746-AB42-3BFF601FD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FC6D1-8CFD-E76D-481D-1CC30895A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D87C86-982F-4DEB-87F7-E1289333CFE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00095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openxmlformats.org/officeDocument/2006/relationships/tags" Target="../tags/tag3.xml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tags" Target="../tags/tag2.xml"/><Relationship Id="rId16" Type="http://schemas.openxmlformats.org/officeDocument/2006/relationships/image" Target="../media/image12.png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1.png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6747EA-62A0-1A91-69F0-8951FFDCBD36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1000997"/>
              </p:ext>
            </p:extLst>
          </p:nvPr>
        </p:nvGraphicFramePr>
        <p:xfrm>
          <a:off x="4559652" y="490609"/>
          <a:ext cx="3891844" cy="6367391"/>
        </p:xfrm>
        <a:graphic>
          <a:graphicData uri="http://schemas.openxmlformats.org/drawingml/2006/table">
            <a:tbl>
              <a:tblPr firstRow="1" bandRow="1"/>
              <a:tblGrid>
                <a:gridCol w="3891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794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vi-VN" sz="1800" b="1" kern="12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ONE-WAY DECISIONS</a:t>
                      </a:r>
                      <a:endParaRPr lang="vi-VN" altLang="en-US" sz="1800" b="1" kern="12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+mn-ea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9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vi-VN" altLang="en-US" sz="1400" b="1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if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 : Chỉ thực thi khối lệnh nếu điều kiện là </a:t>
                      </a:r>
                      <a:r>
                        <a:rPr lang="vi-VN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True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. Nếu </a:t>
                      </a:r>
                      <a:r>
                        <a:rPr lang="vi-VN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False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, nó sẽ bỏ qua.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6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vi-VN" sz="1800" b="1" kern="12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TWO-WAY DECISIOS</a:t>
                      </a:r>
                      <a:endParaRPr lang="vi-VN" altLang="en-US" sz="1800" b="1" kern="12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+mn-ea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45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Như một “ngã ba đường” (</a:t>
                      </a:r>
                      <a:r>
                        <a:rPr lang="vi-VN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fork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in the </a:t>
                      </a:r>
                      <a:r>
                        <a:rPr lang="vi-VN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road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vi-VN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if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- </a:t>
                      </a:r>
                      <a:r>
                        <a:rPr lang="vi-VN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else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: Nếu điều kiện </a:t>
                      </a:r>
                      <a:r>
                        <a:rPr lang="vi-VN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True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, chạy khối </a:t>
                      </a:r>
                      <a:r>
                        <a:rPr lang="vi-VN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if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. Ngược lại (điều kiện </a:t>
                      </a:r>
                      <a:r>
                        <a:rPr lang="vi-VN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False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), chạy khối </a:t>
                      </a:r>
                      <a:r>
                        <a:rPr lang="vi-VN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else</a:t>
                      </a: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/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6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vi-VN" sz="1800" b="1" kern="12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MULTI-WAY</a:t>
                      </a:r>
                      <a:endParaRPr lang="vi-VN" altLang="en-US" sz="1800" b="1" kern="12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+mn-ea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26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vi-VN" sz="1600" b="0" i="0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elif</a:t>
                      </a:r>
                      <a:r>
                        <a:rPr lang="vi-VN" sz="16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: Dùng để kiếm tra nhiều điều kiện nối tiếp nhau.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vi-VN" sz="16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Chương trình sẽ chạy khối lệnh của điều kiện </a:t>
                      </a:r>
                      <a:r>
                        <a:rPr lang="vi-VN" sz="1600" b="0" i="0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True</a:t>
                      </a:r>
                      <a:r>
                        <a:rPr lang="vi-VN" sz="16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đầu tiên mà nó gặp, sau đó bỏ qua các </a:t>
                      </a:r>
                      <a:r>
                        <a:rPr lang="vi-VN" sz="1600" b="0" i="0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elif</a:t>
                      </a:r>
                      <a:r>
                        <a:rPr lang="vi-VN" sz="16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và </a:t>
                      </a:r>
                      <a:r>
                        <a:rPr lang="vi-VN" sz="1600" b="0" i="0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else</a:t>
                      </a:r>
                      <a:r>
                        <a:rPr lang="vi-VN" sz="16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còn lại </a:t>
                      </a:r>
                    </a:p>
                    <a:p>
                      <a:pPr algn="l">
                        <a:buNone/>
                      </a:pP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Box 16">
            <a:extLst>
              <a:ext uri="{FF2B5EF4-FFF2-40B4-BE49-F238E27FC236}">
                <a16:creationId xmlns:a16="http://schemas.microsoft.com/office/drawing/2014/main" id="{E434FD35-A70E-06F1-6D11-6363C1C1D13E}"/>
              </a:ext>
            </a:extLst>
          </p:cNvPr>
          <p:cNvSpPr txBox="1"/>
          <p:nvPr/>
        </p:nvSpPr>
        <p:spPr>
          <a:xfrm>
            <a:off x="3275923" y="4754"/>
            <a:ext cx="63430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cap="all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</a:t>
            </a:r>
            <a:r>
              <a:rPr lang="en-US" sz="2400" b="1" cap="all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r>
              <a:rPr lang="en-US" sz="2400" b="1" cap="all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vi-VN" altLang="en-US" sz="24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2D70DE4-8DAA-F426-B76E-87599CCB191D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23634938"/>
              </p:ext>
            </p:extLst>
          </p:nvPr>
        </p:nvGraphicFramePr>
        <p:xfrm>
          <a:off x="0" y="490609"/>
          <a:ext cx="4559652" cy="6367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9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2856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COMPARISON OPERATORS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3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en-US" sz="16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Đặt câu hỏi và trả về </a:t>
                      </a:r>
                      <a:r>
                        <a:rPr lang="vi-VN" altLang="en-US" sz="16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True</a:t>
                      </a:r>
                      <a:r>
                        <a:rPr lang="vi-VN" altLang="en-US" sz="16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(Đúng) hoặc </a:t>
                      </a:r>
                      <a:r>
                        <a:rPr lang="vi-VN" altLang="en-US" sz="16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False</a:t>
                      </a:r>
                      <a:r>
                        <a:rPr lang="vi-VN" altLang="en-US" sz="16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(Sai)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41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vi-VN" sz="1800" b="1" dirty="0">
                          <a:latin typeface="+mj-lt"/>
                        </a:rPr>
                        <a:t>INDENTATION</a:t>
                      </a:r>
                      <a:endParaRPr lang="vi-VN" altLang="en-US" sz="1800" b="1" dirty="0">
                        <a:solidFill>
                          <a:schemeClr val="tx1"/>
                        </a:solidFill>
                        <a:latin typeface="+mj-lt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2773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40000"/>
                        </a:lnSpc>
                        <a:buFontTx/>
                        <a:buChar char="-"/>
                      </a:pPr>
                      <a:r>
                        <a:rPr lang="vi-VN" sz="1600" b="0" i="0" dirty="0">
                          <a:effectLst/>
                          <a:latin typeface="+mj-lt"/>
                        </a:rPr>
                        <a:t>Cực kì quan trọng trong </a:t>
                      </a:r>
                      <a:r>
                        <a:rPr lang="vi-VN" sz="1600" b="0" i="0" dirty="0" err="1">
                          <a:effectLst/>
                          <a:latin typeface="+mj-lt"/>
                        </a:rPr>
                        <a:t>Python</a:t>
                      </a:r>
                      <a:r>
                        <a:rPr lang="vi-VN" sz="1600" b="0" i="0" dirty="0">
                          <a:effectLst/>
                          <a:latin typeface="+mj-lt"/>
                        </a:rPr>
                        <a:t>: nó xác định “khối lệnh” (</a:t>
                      </a:r>
                      <a:r>
                        <a:rPr lang="vi-VN" sz="1600" b="0" i="0" dirty="0" err="1">
                          <a:effectLst/>
                          <a:latin typeface="+mj-lt"/>
                        </a:rPr>
                        <a:t>scope</a:t>
                      </a:r>
                      <a:r>
                        <a:rPr lang="vi-VN" sz="1600" b="0" i="0" dirty="0">
                          <a:effectLst/>
                          <a:latin typeface="+mj-lt"/>
                        </a:rPr>
                        <a:t>)</a:t>
                      </a:r>
                    </a:p>
                    <a:p>
                      <a:pPr marL="285750" indent="-285750" algn="l">
                        <a:lnSpc>
                          <a:spcPct val="140000"/>
                        </a:lnSpc>
                        <a:buFontTx/>
                        <a:buChar char="-"/>
                      </a:pPr>
                      <a:r>
                        <a:rPr lang="vi-VN" altLang="en-US" sz="16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vi-VN" sz="1600" b="0" i="0" dirty="0">
                          <a:effectLst/>
                          <a:latin typeface="+mj-lt"/>
                        </a:rPr>
                        <a:t>Tăng thụt lề sau dấu : (của </a:t>
                      </a:r>
                      <a:r>
                        <a:rPr lang="vi-VN" sz="1600" b="0" i="0" dirty="0" err="1">
                          <a:effectLst/>
                          <a:latin typeface="+mj-lt"/>
                        </a:rPr>
                        <a:t>if</a:t>
                      </a:r>
                      <a:r>
                        <a:rPr lang="vi-VN" sz="1600" b="0" i="0" dirty="0">
                          <a:effectLst/>
                          <a:latin typeface="+mj-lt"/>
                        </a:rPr>
                        <a:t> , </a:t>
                      </a:r>
                      <a:r>
                        <a:rPr lang="vi-VN" sz="1600" b="0" i="0" dirty="0" err="1">
                          <a:effectLst/>
                          <a:latin typeface="+mj-lt"/>
                        </a:rPr>
                        <a:t>for</a:t>
                      </a:r>
                      <a:r>
                        <a:rPr lang="vi-VN" sz="1600" b="0" i="0" dirty="0">
                          <a:effectLst/>
                          <a:latin typeface="+mj-lt"/>
                        </a:rPr>
                        <a:t> , </a:t>
                      </a:r>
                      <a:r>
                        <a:rPr lang="vi-VN" sz="1600" b="0" i="0" dirty="0" err="1">
                          <a:effectLst/>
                          <a:latin typeface="+mj-lt"/>
                        </a:rPr>
                        <a:t>else</a:t>
                      </a:r>
                      <a:r>
                        <a:rPr lang="vi-VN" sz="1600" b="0" i="0" dirty="0">
                          <a:effectLst/>
                          <a:latin typeface="+mj-lt"/>
                        </a:rPr>
                        <a:t> ,...) </a:t>
                      </a:r>
                    </a:p>
                    <a:p>
                      <a:pPr marL="285750" indent="-285750" algn="l">
                        <a:lnSpc>
                          <a:spcPct val="140000"/>
                        </a:lnSpc>
                        <a:buFontTx/>
                        <a:buChar char="-"/>
                      </a:pPr>
                      <a:r>
                        <a:rPr lang="vi-VN" sz="1600" b="0" i="0" dirty="0">
                          <a:effectLst/>
                          <a:latin typeface="+mj-lt"/>
                        </a:rPr>
                        <a:t>Giảm thụt lề để kết thúc khối lệnh</a:t>
                      </a:r>
                    </a:p>
                    <a:p>
                      <a:pPr marL="285750" indent="-285750" algn="l">
                        <a:lnSpc>
                          <a:spcPct val="140000"/>
                        </a:lnSpc>
                        <a:buFontTx/>
                        <a:buChar char="-"/>
                      </a:pPr>
                      <a:r>
                        <a:rPr lang="vi-VN" sz="1600" b="0" i="0" dirty="0">
                          <a:effectLst/>
                          <a:latin typeface="+mj-lt"/>
                        </a:rPr>
                        <a:t>Nên dùng khoảng trắng (</a:t>
                      </a:r>
                      <a:r>
                        <a:rPr lang="vi-VN" sz="1600" b="0" i="0" dirty="0" err="1">
                          <a:effectLst/>
                          <a:latin typeface="+mj-lt"/>
                        </a:rPr>
                        <a:t>sacpes</a:t>
                      </a:r>
                      <a:r>
                        <a:rPr lang="vi-VN" sz="1600" b="0" i="0" dirty="0">
                          <a:effectLst/>
                          <a:latin typeface="+mj-lt"/>
                        </a:rPr>
                        <a:t>), không dùng </a:t>
                      </a:r>
                      <a:r>
                        <a:rPr lang="vi-VN" sz="1600" b="0" i="0" dirty="0" err="1">
                          <a:effectLst/>
                          <a:latin typeface="+mj-lt"/>
                        </a:rPr>
                        <a:t>tab</a:t>
                      </a:r>
                      <a:r>
                        <a:rPr lang="vi-VN" sz="1600" b="0" i="0" dirty="0">
                          <a:effectLst/>
                          <a:latin typeface="+mj-lt"/>
                        </a:rPr>
                        <a:t> để tránh lỗi</a:t>
                      </a:r>
                      <a:endParaRPr lang="vi-VN" altLang="en-US" sz="1600" dirty="0">
                        <a:solidFill>
                          <a:schemeClr val="tx1"/>
                        </a:solidFill>
                        <a:latin typeface="+mj-lt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6" descr="A black and white rectangular background with white text&#10;&#10;AI-generated content may be incorrect.">
            <a:extLst>
              <a:ext uri="{FF2B5EF4-FFF2-40B4-BE49-F238E27FC236}">
                <a16:creationId xmlns:a16="http://schemas.microsoft.com/office/drawing/2014/main" id="{4B1D7464-4738-D783-B49C-30632A4B5A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13" y="1286539"/>
            <a:ext cx="4317296" cy="1509730"/>
          </a:xfrm>
          <a:prstGeom prst="rect">
            <a:avLst/>
          </a:prstGeom>
        </p:spPr>
      </p:pic>
      <p:pic>
        <p:nvPicPr>
          <p:cNvPr id="10" name="Picture 9" descr="A black and white squares with colorful text&#10;&#10;AI-generated content may be incorrect.">
            <a:extLst>
              <a:ext uri="{FF2B5EF4-FFF2-40B4-BE49-F238E27FC236}">
                <a16:creationId xmlns:a16="http://schemas.microsoft.com/office/drawing/2014/main" id="{48C9C9B7-A4CE-C766-2497-2695EEC006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" y="5527425"/>
            <a:ext cx="4193914" cy="1317490"/>
          </a:xfrm>
          <a:prstGeom prst="rect">
            <a:avLst/>
          </a:prstGeom>
        </p:spPr>
      </p:pic>
      <p:pic>
        <p:nvPicPr>
          <p:cNvPr id="12" name="Picture 1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F87A29F-5A14-7842-BB56-FA2A583268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766" y="1436972"/>
            <a:ext cx="1862665" cy="707886"/>
          </a:xfrm>
          <a:prstGeom prst="rect">
            <a:avLst/>
          </a:prstGeom>
        </p:spPr>
      </p:pic>
      <p:pic>
        <p:nvPicPr>
          <p:cNvPr id="14" name="Picture 1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EBC789B-4D83-7ABA-5D85-37087879F9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906" y="1456762"/>
            <a:ext cx="1456888" cy="687365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E4E73D-DCF7-EC0F-8EA4-9E7118B8A784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6447431" y="1790915"/>
            <a:ext cx="456475" cy="95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8CFEA80-BD41-194F-5A68-EB5B4BE281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957" y="3399265"/>
            <a:ext cx="1947333" cy="811524"/>
          </a:xfrm>
          <a:prstGeom prst="rect">
            <a:avLst/>
          </a:prstGeom>
        </p:spPr>
      </p:pic>
      <p:pic>
        <p:nvPicPr>
          <p:cNvPr id="23" name="Picture 2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0FBE478-4918-61AA-3F4E-CFC6DCCEC60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4687" y="3491392"/>
            <a:ext cx="1486107" cy="657317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A9EFD2A-BEA0-25BB-DA4B-6E572C252421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>
            <a:off x="6520290" y="3805027"/>
            <a:ext cx="354397" cy="15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B873806-F145-66CB-4B6D-224F535D834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766" y="6033394"/>
            <a:ext cx="1947333" cy="811524"/>
          </a:xfrm>
          <a:prstGeom prst="rect">
            <a:avLst/>
          </a:prstGeom>
        </p:spPr>
      </p:pic>
      <p:pic>
        <p:nvPicPr>
          <p:cNvPr id="31" name="Picture 30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EEB7F6F-79AE-A0AF-0453-2BE9112D95C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739" y="6115261"/>
            <a:ext cx="1448002" cy="647790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1F1646B-929C-172F-19CE-8CF759F66D47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>
            <a:off x="6532099" y="6439156"/>
            <a:ext cx="361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EA1050CC-1693-02E4-6877-3AE9F2603067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361203108"/>
              </p:ext>
            </p:extLst>
          </p:nvPr>
        </p:nvGraphicFramePr>
        <p:xfrm>
          <a:off x="8451496" y="490610"/>
          <a:ext cx="3740504" cy="6067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0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685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vi-VN" sz="1800" b="1" kern="12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NESTED DECISIONS</a:t>
                      </a:r>
                      <a:endParaRPr lang="en-US" altLang="en-US" sz="1800" b="1" kern="12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+mn-ea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2098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en-US" sz="1600" b="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Một</a:t>
                      </a:r>
                      <a:r>
                        <a:rPr lang="en-US" altLang="en-US" sz="16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600" b="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cấu</a:t>
                      </a:r>
                      <a:r>
                        <a:rPr lang="en-US" altLang="en-US" sz="16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600" b="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trúc</a:t>
                      </a:r>
                      <a:r>
                        <a:rPr lang="en-US" altLang="en-US" sz="16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if </a:t>
                      </a:r>
                      <a:r>
                        <a:rPr lang="en-US" altLang="en-US" sz="1600" b="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nằm</a:t>
                      </a:r>
                      <a:r>
                        <a:rPr lang="en-US" altLang="en-US" sz="16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600" b="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bên</a:t>
                      </a:r>
                      <a:r>
                        <a:rPr lang="en-US" altLang="en-US" sz="16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600" b="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trong</a:t>
                      </a:r>
                      <a:r>
                        <a:rPr lang="en-US" altLang="en-US" sz="16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600" b="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một</a:t>
                      </a:r>
                      <a:r>
                        <a:rPr lang="en-US" altLang="en-US" sz="16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600" b="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khối</a:t>
                      </a:r>
                      <a:r>
                        <a:rPr lang="en-US" altLang="en-US" sz="16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if  (</a:t>
                      </a:r>
                      <a:r>
                        <a:rPr lang="en-US" altLang="en-US" sz="1600" b="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hoặc</a:t>
                      </a:r>
                      <a:r>
                        <a:rPr lang="en-US" altLang="en-US" sz="16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else / </a:t>
                      </a:r>
                      <a:r>
                        <a:rPr lang="en-US" altLang="en-US" sz="1600" b="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elif</a:t>
                      </a:r>
                      <a:r>
                        <a:rPr lang="en-US" altLang="en-US" sz="16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) </a:t>
                      </a:r>
                      <a:r>
                        <a:rPr lang="en-US" altLang="en-US" sz="1600" b="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khác</a:t>
                      </a:r>
                      <a:endParaRPr lang="en-US" altLang="en-US" sz="16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3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1600" b="1" kern="12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THE TRY / EXCEPT STRUCTURE</a:t>
                      </a:r>
                      <a:endParaRPr lang="vi-VN" altLang="en-US" sz="1600" b="1" kern="12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+mn-ea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4093">
                <a:tc>
                  <a:txBody>
                    <a:bodyPr/>
                    <a:lstStyle/>
                    <a:p>
                      <a:pPr algn="l"/>
                      <a:r>
                        <a:rPr lang="en-US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Cấu</a:t>
                      </a:r>
                      <a:r>
                        <a:rPr lang="en-US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trúc</a:t>
                      </a:r>
                      <a:r>
                        <a:rPr lang="en-US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try/except : </a:t>
                      </a:r>
                      <a:r>
                        <a:rPr lang="en-US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Dùng</a:t>
                      </a:r>
                      <a:r>
                        <a:rPr lang="en-US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để</a:t>
                      </a:r>
                      <a:r>
                        <a:rPr lang="en-US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“</a:t>
                      </a:r>
                      <a:r>
                        <a:rPr lang="en-US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bọc</a:t>
                      </a:r>
                      <a:r>
                        <a:rPr lang="en-US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” </a:t>
                      </a:r>
                      <a:r>
                        <a:rPr lang="en-US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các</a:t>
                      </a:r>
                      <a:r>
                        <a:rPr lang="en-US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đoạn</a:t>
                      </a:r>
                      <a:r>
                        <a:rPr lang="en-US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mã</a:t>
                      </a:r>
                      <a:r>
                        <a:rPr lang="en-US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“</a:t>
                      </a:r>
                      <a:r>
                        <a:rPr lang="en-US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nguy</a:t>
                      </a:r>
                      <a:r>
                        <a:rPr lang="en-US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hiểm</a:t>
                      </a:r>
                      <a:r>
                        <a:rPr lang="en-US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”  (</a:t>
                      </a:r>
                      <a:r>
                        <a:rPr lang="en-US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ví</a:t>
                      </a:r>
                      <a:r>
                        <a:rPr lang="en-US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dụ</a:t>
                      </a:r>
                      <a:r>
                        <a:rPr lang="en-US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: </a:t>
                      </a:r>
                      <a:r>
                        <a:rPr lang="en-US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chuyển</a:t>
                      </a:r>
                      <a:r>
                        <a:rPr lang="en-US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đổi</a:t>
                      </a:r>
                      <a:r>
                        <a:rPr lang="en-US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chuỗi</a:t>
                      </a:r>
                      <a:r>
                        <a:rPr lang="en-US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sang </a:t>
                      </a:r>
                      <a:r>
                        <a:rPr lang="en-US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số</a:t>
                      </a:r>
                      <a:r>
                        <a:rPr lang="en-US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) </a:t>
                      </a:r>
                      <a:r>
                        <a:rPr lang="en-US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có</a:t>
                      </a:r>
                      <a:r>
                        <a:rPr lang="en-US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thể</a:t>
                      </a:r>
                      <a:r>
                        <a:rPr lang="en-US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gây</a:t>
                      </a:r>
                      <a:r>
                        <a:rPr lang="en-US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4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lỗi</a:t>
                      </a:r>
                      <a:r>
                        <a:rPr lang="en-US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264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vi-VN" altLang="en-US" sz="18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LUỒNG HOẠT ĐỘNG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9345">
                <a:tc>
                  <a:txBody>
                    <a:bodyPr/>
                    <a:lstStyle/>
                    <a:p>
                      <a:pPr algn="ctr"/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6" name="Picture 4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226D3289-A3A6-D7A9-6754-E63504DAA66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732" y="1503920"/>
            <a:ext cx="1597025" cy="748214"/>
          </a:xfrm>
          <a:prstGeom prst="rect">
            <a:avLst/>
          </a:prstGeom>
        </p:spPr>
      </p:pic>
      <p:pic>
        <p:nvPicPr>
          <p:cNvPr id="48" name="Picture 4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55359A3-46EF-8E85-F121-0DDA6304E49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310" y="1527021"/>
            <a:ext cx="1100667" cy="756681"/>
          </a:xfrm>
          <a:prstGeom prst="rect">
            <a:avLst/>
          </a:prstGeom>
        </p:spPr>
      </p:pic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B69B04E-0AD1-5133-9310-BBB7B047DB0F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10155253" y="1886948"/>
            <a:ext cx="894057" cy="18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Picture 5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13EE3E5-4A71-2787-C0EC-98C5009E68A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441" y="3450848"/>
            <a:ext cx="1849480" cy="1097677"/>
          </a:xfrm>
          <a:prstGeom prst="rect">
            <a:avLst/>
          </a:prstGeom>
        </p:spPr>
      </p:pic>
      <p:pic>
        <p:nvPicPr>
          <p:cNvPr id="54" name="Picture 5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3891C73-DE88-4485-3532-6F7EB427DF0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0777" y="3635466"/>
            <a:ext cx="1219200" cy="857370"/>
          </a:xfrm>
          <a:prstGeom prst="rect">
            <a:avLst/>
          </a:prstGeom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CEDADEA-53BA-B114-DFDF-5BAD7F97B411}"/>
              </a:ext>
            </a:extLst>
          </p:cNvPr>
          <p:cNvCxnSpPr>
            <a:cxnSpLocks/>
          </p:cNvCxnSpPr>
          <p:nvPr/>
        </p:nvCxnSpPr>
        <p:spPr>
          <a:xfrm>
            <a:off x="10392921" y="4067581"/>
            <a:ext cx="5378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9" name="Picture 68" descr="A white and black text&#10;&#10;AI-generated content may be incorrect.">
            <a:extLst>
              <a:ext uri="{FF2B5EF4-FFF2-40B4-BE49-F238E27FC236}">
                <a16:creationId xmlns:a16="http://schemas.microsoft.com/office/drawing/2014/main" id="{0098D6B9-AB40-1F87-BB50-B2359B8B0E4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496" y="5034380"/>
            <a:ext cx="3740504" cy="181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6856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84*391"/>
  <p:tag name="TABLE_ENDDRAG_RECT" val="18*98*284*39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84*375"/>
  <p:tag name="TABLE_ENDDRAG_RECT" val="337*98*284*37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84*391"/>
  <p:tag name="TABLE_ENDDRAG_RECT" val="18*98*284*39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235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Đạt Thành</dc:creator>
  <cp:lastModifiedBy>Đạt Thành</cp:lastModifiedBy>
  <cp:revision>1</cp:revision>
  <dcterms:created xsi:type="dcterms:W3CDTF">2025-11-18T15:21:05Z</dcterms:created>
  <dcterms:modified xsi:type="dcterms:W3CDTF">2025-11-18T17:38:35Z</dcterms:modified>
</cp:coreProperties>
</file>