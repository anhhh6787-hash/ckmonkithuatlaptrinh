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9E764-35A8-E132-13BF-B437BF6516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348B0D-6111-A261-2282-5853FC3644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BC53A-FC3B-C619-08D1-67D229EC6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F1EB6-DF44-4A7D-A85B-0366B1F54078}" type="datetimeFigureOut">
              <a:rPr lang="vi-VN" smtClean="0"/>
              <a:t>20/11/2025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3047B-9FBE-53EF-0248-76718E84B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FFD7E-FDE1-0598-4B2D-F98C221AA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C44B-1DD5-414B-8471-C793A93AD0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82657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BE107-ED6A-E5CC-865E-40D8CFA26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BA38E-DC0D-A06F-C5C8-8E71FF167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A1D85-EA2E-6D48-6820-C65ADACC2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F1EB6-DF44-4A7D-A85B-0366B1F54078}" type="datetimeFigureOut">
              <a:rPr lang="vi-VN" smtClean="0"/>
              <a:t>20/11/2025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6BE1A-BBA9-C3C4-696D-C4798DA2A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F2ACE-128E-4E56-5229-554D9540E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C44B-1DD5-414B-8471-C793A93AD0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12077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9F9D3-B28C-11A4-FFD8-FFDEA05F1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DF7E5F-792D-0CF2-E136-A6FA23F94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68431-3664-7464-52F5-818B23582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F1EB6-DF44-4A7D-A85B-0366B1F54078}" type="datetimeFigureOut">
              <a:rPr lang="vi-VN" smtClean="0"/>
              <a:t>20/11/2025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1474A-3AD2-EAC3-3DA8-BD776F66F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39445-03B6-4FF3-89D5-A0F63DED6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C44B-1DD5-414B-8471-C793A93AD0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89440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DE66E-A2FB-4DAD-10DD-C2C1A334C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51E51-77AA-367A-BC30-5B3688F879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01045A-67EF-2A30-41DF-97245AE947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3AFE79-B972-BE86-2C8B-D438D57C9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F1EB6-DF44-4A7D-A85B-0366B1F54078}" type="datetimeFigureOut">
              <a:rPr lang="vi-VN" smtClean="0"/>
              <a:t>20/11/2025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C8DF24-67E3-459B-BC59-FBCFF533F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681A31-273D-4E55-111B-7272E4207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C44B-1DD5-414B-8471-C793A93AD0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38477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63D68-C5C2-2625-04F4-8B2E3ABB6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07345-2BCA-FFE1-5887-7586E7E37C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775E70-DF3D-26B6-744E-19D864AC4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CD9877-6AB0-19B1-1CEE-9171CCA0C8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182600-E443-1943-6DA8-681E0B2338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89E22A-838F-C176-9AB6-69A95A7BA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F1EB6-DF44-4A7D-A85B-0366B1F54078}" type="datetimeFigureOut">
              <a:rPr lang="vi-VN" smtClean="0"/>
              <a:t>20/11/2025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2CD78C-FFD2-13D6-6E03-D8180E857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3E6DCC-A019-87E3-E849-80D3CA639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C44B-1DD5-414B-8471-C793A93AD0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3941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80C33-C8DD-7FBB-7C98-5DD02FCD6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3BE82F-D559-AFA4-2DEB-AC85CB185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F1EB6-DF44-4A7D-A85B-0366B1F54078}" type="datetimeFigureOut">
              <a:rPr lang="vi-VN" smtClean="0"/>
              <a:t>20/11/2025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4BABB0-F26F-FB53-E295-A944873E3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069B96-D918-E854-51E9-57E5141AD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C44B-1DD5-414B-8471-C793A93AD0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23299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6C75D9-ABF8-253A-211A-1799C8912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F1EB6-DF44-4A7D-A85B-0366B1F54078}" type="datetimeFigureOut">
              <a:rPr lang="vi-VN" smtClean="0"/>
              <a:t>20/11/2025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676EF6-84A7-9ED6-25F1-A1A64E7E2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857578-4BB2-F9A7-9769-7A9F667EF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C44B-1DD5-414B-8471-C793A93AD0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20747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BC444-48DD-F359-9DE4-243D2B048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7EC45-4B19-3E10-D498-004B2C632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7F9DDD-6303-39F5-1990-B83BFCE770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91B2A1-F5C1-E6C9-47C0-495910142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F1EB6-DF44-4A7D-A85B-0366B1F54078}" type="datetimeFigureOut">
              <a:rPr lang="vi-VN" smtClean="0"/>
              <a:t>20/11/2025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358758-8638-02D4-7406-BF2A87997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E192FB-EDF8-B95F-1798-6999AE1EE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C44B-1DD5-414B-8471-C793A93AD0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44674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783E6-8DC0-0A51-E013-1BDF11C96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CF34F3-0857-02A1-119D-4F3AD6CD47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7A13B9-6E54-EB2C-52C4-8902E1B84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6B4682-475F-BB93-C0C7-8E23C2EB4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F1EB6-DF44-4A7D-A85B-0366B1F54078}" type="datetimeFigureOut">
              <a:rPr lang="vi-VN" smtClean="0"/>
              <a:t>20/11/2025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47A40F-2E2D-6C89-F849-7DAADB92F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B9385F-88A2-0EB1-3350-4CB3885A4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C44B-1DD5-414B-8471-C793A93AD0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78323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6DBAE-08DA-2A88-FD7B-010388318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3D4E17-2ADD-B220-BC69-6ECE7A17FF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6B066-B014-366C-16DF-80A6430AC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F1EB6-DF44-4A7D-A85B-0366B1F54078}" type="datetimeFigureOut">
              <a:rPr lang="vi-VN" smtClean="0"/>
              <a:t>20/11/2025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98EA1-9765-0C40-1E8C-E293490F3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12787-7F69-A5E1-AED7-56BAD6A93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C44B-1DD5-414B-8471-C793A93AD0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82735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76877D-385D-F08F-4493-B37794E3C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5353B9-090A-E264-7C6D-9D9DD2499D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6EFD2-9DBC-AA83-B0A7-7F304B545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F1EB6-DF44-4A7D-A85B-0366B1F54078}" type="datetimeFigureOut">
              <a:rPr lang="vi-VN" smtClean="0"/>
              <a:t>20/11/2025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E169F4-8D3D-6AA3-A0D6-C07B9DBCD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03D34-2B1C-8AE8-FE79-466E2BD03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C44B-1DD5-414B-8471-C793A93AD0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37194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1921B5-F217-84B2-6239-86F80BBAE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5D2B2-4F9E-C1E8-58C4-550647FC5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98D4A-29C3-0A0E-904A-7276EC1EAC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FF1EB6-DF44-4A7D-A85B-0366B1F54078}" type="datetimeFigureOut">
              <a:rPr lang="vi-VN" smtClean="0"/>
              <a:t>20/11/2025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F4C14-85E6-D899-BD53-5AF87D103D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C9398-071F-B6A5-64C0-43E78F1D3E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88C44B-1DD5-414B-8471-C793A93AD0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45341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3" Type="http://schemas.openxmlformats.org/officeDocument/2006/relationships/tags" Target="../tags/tag3.xml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5" Type="http://schemas.openxmlformats.org/officeDocument/2006/relationships/image" Target="../media/image1.png"/><Relationship Id="rId10" Type="http://schemas.openxmlformats.org/officeDocument/2006/relationships/image" Target="../media/image6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5.png"/><Relationship Id="rId1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6">
            <a:extLst>
              <a:ext uri="{FF2B5EF4-FFF2-40B4-BE49-F238E27FC236}">
                <a16:creationId xmlns:a16="http://schemas.microsoft.com/office/drawing/2014/main" id="{E7B54E8C-8E3B-C88C-045B-EB03823C6B3C}"/>
              </a:ext>
            </a:extLst>
          </p:cNvPr>
          <p:cNvSpPr txBox="1"/>
          <p:nvPr/>
        </p:nvSpPr>
        <p:spPr>
          <a:xfrm>
            <a:off x="3404859" y="-63238"/>
            <a:ext cx="6343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i="0" dirty="0">
                <a:solidFill>
                  <a:schemeClr val="accent6">
                    <a:lumMod val="75000"/>
                  </a:schemeClr>
                </a:solidFill>
                <a:effectLst/>
                <a:latin typeface="+mj-lt"/>
              </a:rPr>
              <a:t>LOOPS AND ITERATION</a:t>
            </a:r>
            <a:endParaRPr lang="vi-VN" altLang="en-US" sz="2400" b="1" dirty="0">
              <a:solidFill>
                <a:schemeClr val="accent6">
                  <a:lumMod val="7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22B5442-ADE2-2BEB-07BC-955D582BBE0A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9219699"/>
              </p:ext>
            </p:extLst>
          </p:nvPr>
        </p:nvGraphicFramePr>
        <p:xfrm>
          <a:off x="0" y="375520"/>
          <a:ext cx="4428067" cy="64916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8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8993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vi-VN" altLang="en-US" sz="18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While</a:t>
                      </a:r>
                      <a:r>
                        <a:rPr lang="vi-VN" altLang="en-US" sz="18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vi-VN" altLang="en-US" sz="18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loops</a:t>
                      </a:r>
                      <a:r>
                        <a:rPr lang="vi-VN" altLang="en-US" sz="18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(</a:t>
                      </a:r>
                      <a:r>
                        <a:rPr lang="vi-VN" altLang="en-US" sz="18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indefinite</a:t>
                      </a:r>
                      <a:r>
                        <a:rPr lang="vi-VN" altLang="en-US" sz="18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)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0727"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vi-VN" altLang="en-US" sz="16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Định nghĩa: Được gọi là “Vòng lặp không xác định” (</a:t>
                      </a:r>
                      <a:r>
                        <a:rPr lang="vi-VN" altLang="en-US" sz="16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Indefinite</a:t>
                      </a:r>
                      <a:r>
                        <a:rPr lang="vi-VN" altLang="en-US" sz="16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vi-VN" altLang="en-US" sz="16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loops</a:t>
                      </a:r>
                      <a:r>
                        <a:rPr lang="vi-VN" altLang="en-US" sz="16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)</a:t>
                      </a:r>
                    </a:p>
                    <a:p>
                      <a:pPr marL="285750" indent="-285750" algn="l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vi-VN" altLang="en-US" sz="16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Hoạt động: Tiếp tục chạy cho đến khi  một điều kiện </a:t>
                      </a:r>
                      <a:r>
                        <a:rPr lang="vi-VN" altLang="en-US" sz="16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logic</a:t>
                      </a:r>
                      <a:r>
                        <a:rPr lang="vi-VN" altLang="en-US" sz="16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 trở nên </a:t>
                      </a:r>
                      <a:r>
                        <a:rPr lang="vi-VN" altLang="en-US" sz="16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False</a:t>
                      </a:r>
                      <a:r>
                        <a:rPr lang="vi-VN" altLang="en-US" sz="16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</a:p>
                    <a:p>
                      <a:pPr marL="0" indent="0" algn="l">
                        <a:lnSpc>
                          <a:spcPct val="130000"/>
                        </a:lnSpc>
                        <a:buFont typeface="Arial" panose="020B0604020202020204" pitchFamily="34" charset="0"/>
                        <a:buNone/>
                      </a:pPr>
                      <a:endParaRPr lang="vi-VN" altLang="en-US" sz="16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/>
                      <a:endParaRPr lang="vi-VN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/>
                      <a:endParaRPr lang="vi-VN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797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vi-VN" altLang="en-US" sz="1800" b="1" dirty="0" err="1">
                          <a:solidFill>
                            <a:schemeClr val="tx1"/>
                          </a:solidFill>
                          <a:latin typeface="+mj-lt"/>
                          <a:cs typeface="Times New Roman" panose="02020603050405020304" charset="0"/>
                          <a:sym typeface="+mn-ea"/>
                        </a:rPr>
                        <a:t>For</a:t>
                      </a:r>
                      <a:r>
                        <a:rPr lang="vi-VN" altLang="en-US" sz="1800" b="1" dirty="0">
                          <a:solidFill>
                            <a:schemeClr val="tx1"/>
                          </a:solidFill>
                          <a:latin typeface="+mj-lt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vi-VN" altLang="en-US" sz="1800" b="1" dirty="0" err="1">
                          <a:solidFill>
                            <a:schemeClr val="tx1"/>
                          </a:solidFill>
                          <a:latin typeface="+mj-lt"/>
                          <a:cs typeface="Times New Roman" panose="02020603050405020304" charset="0"/>
                          <a:sym typeface="+mn-ea"/>
                        </a:rPr>
                        <a:t>loops</a:t>
                      </a:r>
                      <a:r>
                        <a:rPr lang="vi-VN" altLang="en-US" sz="1800" b="1" dirty="0">
                          <a:solidFill>
                            <a:schemeClr val="tx1"/>
                          </a:solidFill>
                          <a:latin typeface="+mj-lt"/>
                          <a:cs typeface="Times New Roman" panose="02020603050405020304" charset="0"/>
                          <a:sym typeface="+mn-ea"/>
                        </a:rPr>
                        <a:t> (</a:t>
                      </a:r>
                      <a:r>
                        <a:rPr lang="vi-VN" sz="1800" b="1" kern="12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</a:rPr>
                        <a:t>definite</a:t>
                      </a:r>
                      <a:r>
                        <a:rPr lang="vi-VN" sz="1800" b="1" kern="12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</a:rPr>
                        <a:t>)</a:t>
                      </a:r>
                      <a:endParaRPr lang="vi-VN" altLang="en-US" sz="1800" b="1" kern="120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+mn-ea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1152"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4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vi-VN" altLang="en-US" sz="1600" dirty="0">
                          <a:solidFill>
                            <a:schemeClr val="tx1"/>
                          </a:solidFill>
                          <a:latin typeface="+mj-lt"/>
                          <a:cs typeface="Times New Roman" panose="02020603050405020304" charset="0"/>
                          <a:sym typeface="+mn-ea"/>
                        </a:rPr>
                        <a:t>Định nghĩa: Được gọi là “vòng lặp xác định” (</a:t>
                      </a:r>
                      <a:r>
                        <a:rPr lang="vi-VN" altLang="en-US" sz="1600" dirty="0" err="1">
                          <a:solidFill>
                            <a:schemeClr val="tx1"/>
                          </a:solidFill>
                          <a:latin typeface="+mj-lt"/>
                          <a:cs typeface="Times New Roman" panose="02020603050405020304" charset="0"/>
                          <a:sym typeface="+mn-ea"/>
                        </a:rPr>
                        <a:t>definite</a:t>
                      </a:r>
                      <a:r>
                        <a:rPr lang="vi-VN" altLang="en-US" sz="1600" dirty="0">
                          <a:solidFill>
                            <a:schemeClr val="tx1"/>
                          </a:solidFill>
                          <a:latin typeface="+mj-lt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vi-VN" altLang="en-US" sz="1600" dirty="0" err="1">
                          <a:solidFill>
                            <a:schemeClr val="tx1"/>
                          </a:solidFill>
                          <a:latin typeface="+mj-lt"/>
                          <a:cs typeface="Times New Roman" panose="02020603050405020304" charset="0"/>
                          <a:sym typeface="+mn-ea"/>
                        </a:rPr>
                        <a:t>loops</a:t>
                      </a:r>
                      <a:r>
                        <a:rPr lang="vi-VN" altLang="en-US" sz="1600" dirty="0">
                          <a:solidFill>
                            <a:schemeClr val="tx1"/>
                          </a:solidFill>
                          <a:latin typeface="+mj-lt"/>
                          <a:cs typeface="Times New Roman" panose="02020603050405020304" charset="0"/>
                          <a:sym typeface="+mn-ea"/>
                        </a:rPr>
                        <a:t>) vì chúng thực thi một số lần chính xác </a:t>
                      </a:r>
                    </a:p>
                    <a:p>
                      <a:pPr marL="285750" indent="-285750" algn="l">
                        <a:lnSpc>
                          <a:spcPct val="14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vi-VN" altLang="en-US" sz="1600" dirty="0">
                          <a:solidFill>
                            <a:schemeClr val="tx1"/>
                          </a:solidFill>
                          <a:latin typeface="+mj-lt"/>
                          <a:cs typeface="Times New Roman" panose="02020603050405020304" charset="0"/>
                          <a:sym typeface="+mn-ea"/>
                        </a:rPr>
                        <a:t>Hoạt động: Lặp qua một tập hợp hữu hạn các mục (như một danh sách hoặc các dòng trong tệp)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Picture 6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6F4B511D-4740-0403-4076-4E77CB7F3E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38" y="2272076"/>
            <a:ext cx="1744133" cy="809791"/>
          </a:xfrm>
          <a:prstGeom prst="rect">
            <a:avLst/>
          </a:prstGeom>
        </p:spPr>
      </p:pic>
      <p:pic>
        <p:nvPicPr>
          <p:cNvPr id="9" name="Picture 8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E35FCC64-1A93-CE43-D58E-2CFCFD68D2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754" y="2272076"/>
            <a:ext cx="1524213" cy="809791"/>
          </a:xfrm>
          <a:prstGeom prst="rect">
            <a:avLst/>
          </a:prstGeom>
        </p:spPr>
      </p:pic>
      <p:pic>
        <p:nvPicPr>
          <p:cNvPr id="13" name="Picture 1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7ADE575-E554-A777-1E52-4979DAABF06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38" y="6001248"/>
            <a:ext cx="1888311" cy="683678"/>
          </a:xfrm>
          <a:prstGeom prst="rect">
            <a:avLst/>
          </a:prstGeom>
        </p:spPr>
      </p:pic>
      <p:pic>
        <p:nvPicPr>
          <p:cNvPr id="15" name="Picture 1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E55F23DA-813C-66B7-EA30-DA6C6100D0D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490" y="6006727"/>
            <a:ext cx="1352739" cy="683678"/>
          </a:xfrm>
          <a:prstGeom prst="rect">
            <a:avLst/>
          </a:prstGeom>
        </p:spPr>
      </p:pic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48893E8B-8E2F-3D7F-154A-5A02C6B86E65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86176699"/>
              </p:ext>
            </p:extLst>
          </p:nvPr>
        </p:nvGraphicFramePr>
        <p:xfrm>
          <a:off x="8451496" y="361578"/>
          <a:ext cx="3740504" cy="6496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0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9557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vi-VN" altLang="en-US" sz="18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Loop</a:t>
                      </a:r>
                      <a:r>
                        <a:rPr lang="vi-VN" altLang="en-US" sz="18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vi-VN" altLang="en-US" sz="18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Idioms</a:t>
                      </a:r>
                      <a:endParaRPr lang="vi-VN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2562">
                <a:tc>
                  <a:txBody>
                    <a:bodyPr/>
                    <a:lstStyle/>
                    <a:p>
                      <a:pPr algn="ctr"/>
                      <a:endParaRPr lang="vi-VN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/>
                      <a:endParaRPr lang="vi-VN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5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altLang="en-US" sz="1600" b="1" kern="12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  <a:sym typeface="+mn-ea"/>
                        </a:rPr>
                        <a:t>Finding</a:t>
                      </a:r>
                      <a:r>
                        <a:rPr lang="vi-VN" altLang="en-US" sz="1600" b="1" kern="12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  <a:sym typeface="+mn-ea"/>
                        </a:rPr>
                        <a:t> the </a:t>
                      </a:r>
                      <a:r>
                        <a:rPr lang="vi-VN" altLang="en-US" sz="1600" b="1" kern="12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  <a:sym typeface="+mn-ea"/>
                        </a:rPr>
                        <a:t>Smallest</a:t>
                      </a:r>
                      <a:r>
                        <a:rPr lang="vi-VN" altLang="en-US" sz="1600" b="1" kern="12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  <a:sym typeface="+mn-ea"/>
                        </a:rPr>
                        <a:t>/</a:t>
                      </a:r>
                      <a:r>
                        <a:rPr lang="vi-VN" altLang="en-US" sz="1600" b="1" kern="12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  <a:sym typeface="+mn-ea"/>
                        </a:rPr>
                        <a:t>B</a:t>
                      </a:r>
                      <a:r>
                        <a:rPr lang="vi-VN" sz="1600" b="1" kern="12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</a:rPr>
                        <a:t>iggest</a:t>
                      </a:r>
                      <a:endParaRPr lang="vi-VN" sz="1600" b="1" kern="120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+mn-ea"/>
                        <a:cs typeface="Times New Roman" panose="02020603050405020304" charset="0"/>
                      </a:endParaRPr>
                    </a:p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vi-VN" altLang="en-US" sz="1600" b="1" kern="12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vi-VN" altLang="en-US" sz="1600" b="1" kern="12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  <a:sym typeface="+mn-ea"/>
                        </a:rPr>
                        <a:t>Value</a:t>
                      </a:r>
                      <a:endParaRPr lang="vi-VN" altLang="en-US" sz="1600" b="1" kern="120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+mn-ea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4027"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4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vi-VN" altLang="en-US" sz="1600" dirty="0">
                          <a:solidFill>
                            <a:schemeClr val="tx1"/>
                          </a:solidFill>
                          <a:latin typeface="+mj-lt"/>
                          <a:cs typeface="Times New Roman" panose="02020603050405020304" charset="0"/>
                          <a:sym typeface="+mn-ea"/>
                        </a:rPr>
                        <a:t>Khởi tạo một biến “lớn nhất/nhỏ nhất cho đến nay” (Ví dụ: </a:t>
                      </a:r>
                      <a:r>
                        <a:rPr lang="vi-VN" altLang="en-US" sz="1600" dirty="0" err="1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+mj-lt"/>
                          <a:cs typeface="Times New Roman" panose="02020603050405020304" charset="0"/>
                          <a:sym typeface="+mn-ea"/>
                        </a:rPr>
                        <a:t>largest</a:t>
                      </a:r>
                      <a:r>
                        <a:rPr lang="vi-VN" altLang="en-US" sz="1600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+mj-lt"/>
                          <a:cs typeface="Times New Roman" panose="02020603050405020304" charset="0"/>
                          <a:sym typeface="+mn-ea"/>
                        </a:rPr>
                        <a:t> = -1 </a:t>
                      </a:r>
                      <a:r>
                        <a:rPr lang="vi-VN" altLang="en-US" sz="1600" dirty="0">
                          <a:solidFill>
                            <a:schemeClr val="tx1"/>
                          </a:solidFill>
                          <a:latin typeface="+mj-lt"/>
                          <a:cs typeface="Times New Roman" panose="02020603050405020304" charset="0"/>
                          <a:sym typeface="+mn-ea"/>
                        </a:rPr>
                        <a:t>hoặc </a:t>
                      </a:r>
                      <a:r>
                        <a:rPr lang="vi-VN" altLang="en-US" sz="1600" dirty="0" err="1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+mj-lt"/>
                          <a:cs typeface="Times New Roman" panose="02020603050405020304" charset="0"/>
                          <a:sym typeface="+mn-ea"/>
                        </a:rPr>
                        <a:t>smallest</a:t>
                      </a:r>
                      <a:r>
                        <a:rPr lang="vi-VN" altLang="en-US" sz="1600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+mj-lt"/>
                          <a:cs typeface="Times New Roman" panose="02020603050405020304" charset="0"/>
                          <a:sym typeface="+mn-ea"/>
                        </a:rPr>
                        <a:t> = </a:t>
                      </a:r>
                      <a:r>
                        <a:rPr lang="vi-VN" altLang="en-US" sz="1600" dirty="0" err="1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+mj-lt"/>
                          <a:cs typeface="Times New Roman" panose="02020603050405020304" charset="0"/>
                          <a:sym typeface="+mn-ea"/>
                        </a:rPr>
                        <a:t>None</a:t>
                      </a:r>
                      <a:r>
                        <a:rPr lang="vi-VN" altLang="en-US" sz="1600" dirty="0">
                          <a:solidFill>
                            <a:schemeClr val="tx1"/>
                          </a:solidFill>
                          <a:latin typeface="+mj-lt"/>
                          <a:cs typeface="Times New Roman" panose="02020603050405020304" charset="0"/>
                          <a:sym typeface="+mn-ea"/>
                        </a:rPr>
                        <a:t>)</a:t>
                      </a:r>
                    </a:p>
                    <a:p>
                      <a:pPr marL="285750" indent="-285750" algn="l">
                        <a:lnSpc>
                          <a:spcPct val="14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vi-VN" altLang="en-US" sz="1600" dirty="0">
                          <a:solidFill>
                            <a:schemeClr val="tx1"/>
                          </a:solidFill>
                          <a:latin typeface="+mj-lt"/>
                          <a:cs typeface="Times New Roman" panose="02020603050405020304" charset="0"/>
                          <a:sym typeface="+mn-ea"/>
                        </a:rPr>
                        <a:t>So sánh từng giá trị với biến này và cập nhật nếu tìm thấy giá trị lớn/nhỏ hơn</a:t>
                      </a:r>
                    </a:p>
                    <a:p>
                      <a:pPr marL="285750" indent="-285750" algn="l">
                        <a:lnSpc>
                          <a:spcPct val="14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vi-VN" altLang="en-US" sz="1600" dirty="0">
                          <a:solidFill>
                            <a:schemeClr val="tx1"/>
                          </a:solidFill>
                          <a:latin typeface="+mj-lt"/>
                          <a:cs typeface="Times New Roman" panose="02020603050405020304" charset="0"/>
                          <a:sym typeface="+mn-ea"/>
                        </a:rPr>
                        <a:t>Dùng </a:t>
                      </a:r>
                      <a:r>
                        <a:rPr lang="vi-VN" altLang="en-US" sz="1600" dirty="0" err="1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+mj-lt"/>
                          <a:cs typeface="Times New Roman" panose="02020603050405020304" charset="0"/>
                          <a:sym typeface="+mn-ea"/>
                        </a:rPr>
                        <a:t>None</a:t>
                      </a:r>
                      <a:r>
                        <a:rPr lang="vi-VN" altLang="en-US" sz="1600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+mj-lt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vi-VN" altLang="en-US" sz="1600" dirty="0">
                          <a:solidFill>
                            <a:schemeClr val="tx1"/>
                          </a:solidFill>
                          <a:latin typeface="+mj-lt"/>
                          <a:cs typeface="Times New Roman" panose="02020603050405020304" charset="0"/>
                          <a:sym typeface="+mn-ea"/>
                        </a:rPr>
                        <a:t>và toán tử </a:t>
                      </a:r>
                      <a:r>
                        <a:rPr lang="vi-VN" altLang="en-US" sz="1600" dirty="0" err="1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+mj-lt"/>
                          <a:cs typeface="Times New Roman" panose="02020603050405020304" charset="0"/>
                          <a:sym typeface="+mn-ea"/>
                        </a:rPr>
                        <a:t>is</a:t>
                      </a:r>
                      <a:r>
                        <a:rPr lang="vi-VN" altLang="en-US" sz="1600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+mj-lt"/>
                          <a:cs typeface="Times New Roman" panose="02020603050405020304" charset="0"/>
                          <a:sym typeface="+mn-ea"/>
                        </a:rPr>
                        <a:t> / </a:t>
                      </a:r>
                      <a:r>
                        <a:rPr lang="vi-VN" altLang="en-US" sz="1600" dirty="0" err="1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+mj-lt"/>
                          <a:cs typeface="Times New Roman" panose="02020603050405020304" charset="0"/>
                          <a:sym typeface="+mn-ea"/>
                        </a:rPr>
                        <a:t>is</a:t>
                      </a:r>
                      <a:r>
                        <a:rPr lang="vi-VN" altLang="en-US" sz="1600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+mj-lt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vi-VN" altLang="en-US" sz="1600" dirty="0" err="1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+mj-lt"/>
                          <a:cs typeface="Times New Roman" panose="02020603050405020304" charset="0"/>
                          <a:sym typeface="+mn-ea"/>
                        </a:rPr>
                        <a:t>not</a:t>
                      </a:r>
                      <a:r>
                        <a:rPr lang="vi-VN" altLang="en-US" sz="1600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+mj-lt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vi-VN" altLang="en-US" sz="1600" dirty="0">
                          <a:solidFill>
                            <a:schemeClr val="tx1"/>
                          </a:solidFill>
                          <a:latin typeface="+mj-lt"/>
                          <a:cs typeface="Times New Roman" panose="02020603050405020304" charset="0"/>
                          <a:sym typeface="+mn-ea"/>
                        </a:rPr>
                        <a:t>là cách an toàn nhất để tìm giá trị nhỏ nhất 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76EA7EB8-E46E-765C-96BF-2C351EE1A710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580616714"/>
              </p:ext>
            </p:extLst>
          </p:nvPr>
        </p:nvGraphicFramePr>
        <p:xfrm>
          <a:off x="4428067" y="378840"/>
          <a:ext cx="4023429" cy="6352995"/>
        </p:xfrm>
        <a:graphic>
          <a:graphicData uri="http://schemas.openxmlformats.org/drawingml/2006/table">
            <a:tbl>
              <a:tblPr firstRow="1" bandRow="1"/>
              <a:tblGrid>
                <a:gridCol w="40234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866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altLang="en-US" sz="18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Infinite</a:t>
                      </a:r>
                      <a:r>
                        <a:rPr lang="vi-VN" altLang="en-US" sz="18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vi-VN" altLang="en-US" sz="18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loops</a:t>
                      </a:r>
                      <a:endParaRPr lang="vi-VN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712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Cẩn thận thay đổi biến lặp (ví dụ n = n - 1) bên trong vòng lặp để tránh tạo ra vòng lặp vô hạn (</a:t>
                      </a:r>
                      <a:r>
                        <a:rPr lang="vi-VN" altLang="en-US" sz="14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infinite</a:t>
                      </a:r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vi-VN" altLang="en-US" sz="14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loop</a:t>
                      </a:r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vi-VN" altLang="en-US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vi-VN" altLang="en-US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vi-VN" altLang="en-US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Ở đây </a:t>
                      </a:r>
                      <a:r>
                        <a:rPr lang="vi-VN" altLang="en-US" sz="1400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 luôn bằng 5, điều kiện </a:t>
                      </a:r>
                      <a:r>
                        <a:rPr lang="vi-VN" altLang="en-US" sz="1400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Times New Roman" panose="02020603050405020304" charset="0"/>
                          <a:cs typeface="Times New Roman" panose="02020603050405020304" charset="0"/>
                        </a:rPr>
                        <a:t>n &gt; 0 </a:t>
                      </a:r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luôn đúng, nên nó sẽ in "</a:t>
                      </a:r>
                      <a:r>
                        <a:rPr lang="vi-VN" altLang="en-US" sz="14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Lather</a:t>
                      </a:r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" và "</a:t>
                      </a:r>
                      <a:r>
                        <a:rPr lang="vi-VN" altLang="en-US" sz="14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Rinse</a:t>
                      </a:r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" mãi </a:t>
                      </a:r>
                      <a:r>
                        <a:rPr lang="vi-VN" altLang="en-US" sz="14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mãi</a:t>
                      </a:r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 . Để sửa, cần thêm dòng </a:t>
                      </a:r>
                      <a:r>
                        <a:rPr lang="vi-VN" altLang="en-US" sz="1400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Times New Roman" panose="02020603050405020304" charset="0"/>
                          <a:cs typeface="Times New Roman" panose="02020603050405020304" charset="0"/>
                        </a:rPr>
                        <a:t>n = n - 1</a:t>
                      </a:r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.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altLang="en-US" sz="18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Using</a:t>
                      </a:r>
                      <a:r>
                        <a:rPr lang="vi-VN" altLang="en-US" sz="18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vi-VN" altLang="en-US" sz="18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break</a:t>
                      </a:r>
                      <a:endParaRPr lang="vi-VN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90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285750" indent="-285750" algn="l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Kết thúc ngay lập tức vòng lặp hiện tại</a:t>
                      </a:r>
                    </a:p>
                    <a:p>
                      <a:pPr marL="285750" indent="-285750" algn="l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Nhảy đến câu lệnh ngay sau vòng lặp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vi-VN" altLang="en-US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altLang="en-US" sz="1800" b="1" kern="12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  <a:sym typeface="+mn-ea"/>
                        </a:rPr>
                        <a:t>Using</a:t>
                      </a:r>
                      <a:r>
                        <a:rPr lang="vi-VN" altLang="en-US" sz="1800" b="1" kern="12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vi-VN" altLang="en-US" sz="1800" b="1" kern="12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  <a:sym typeface="+mn-ea"/>
                        </a:rPr>
                        <a:t>continue</a:t>
                      </a:r>
                      <a:endParaRPr lang="vi-VN" altLang="en-US" sz="1800" b="1" kern="120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+mn-ea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254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Kết thúc lần lặp hiện tại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Nhảy lên đầu vòng lặp để bắt đầu lần lặp tiếp theo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3" name="Picture 22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0023A735-010B-207A-1777-53A3C6A550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7399" y="3726028"/>
            <a:ext cx="1744133" cy="744372"/>
          </a:xfrm>
          <a:prstGeom prst="rect">
            <a:avLst/>
          </a:prstGeom>
        </p:spPr>
      </p:pic>
      <p:pic>
        <p:nvPicPr>
          <p:cNvPr id="25" name="Picture 2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1BCAC89E-CFBA-97DD-F251-A5AA1B38BD7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660" y="3726028"/>
            <a:ext cx="1038370" cy="676369"/>
          </a:xfrm>
          <a:prstGeom prst="rect">
            <a:avLst/>
          </a:prstGeom>
        </p:spPr>
      </p:pic>
      <p:pic>
        <p:nvPicPr>
          <p:cNvPr id="27" name="Picture 26" descr="A black background with white text and colorful letters&#10;&#10;AI-generated content may be incorrect.">
            <a:extLst>
              <a:ext uri="{FF2B5EF4-FFF2-40B4-BE49-F238E27FC236}">
                <a16:creationId xmlns:a16="http://schemas.microsoft.com/office/drawing/2014/main" id="{9E5B3D43-E8C2-3494-C1D6-8E36EAE3D19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0297" y="1465099"/>
            <a:ext cx="3234266" cy="564141"/>
          </a:xfrm>
          <a:prstGeom prst="rect">
            <a:avLst/>
          </a:prstGeom>
        </p:spPr>
      </p:pic>
      <p:pic>
        <p:nvPicPr>
          <p:cNvPr id="29" name="Picture 28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E61DAE8C-4F0C-B5C8-512C-95739A919C5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8162" y="5645663"/>
            <a:ext cx="1877259" cy="1207582"/>
          </a:xfrm>
          <a:prstGeom prst="rect">
            <a:avLst/>
          </a:prstGeom>
        </p:spPr>
      </p:pic>
      <p:pic>
        <p:nvPicPr>
          <p:cNvPr id="31" name="Picture 30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A848A8E8-84F0-1147-F821-F546E4D42C4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3948" y="5504846"/>
            <a:ext cx="1229793" cy="1348399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60031DC-D590-16FD-69F4-F7B26986B7C5}"/>
              </a:ext>
            </a:extLst>
          </p:cNvPr>
          <p:cNvCxnSpPr>
            <a:endCxn id="25" idx="1"/>
          </p:cNvCxnSpPr>
          <p:nvPr/>
        </p:nvCxnSpPr>
        <p:spPr>
          <a:xfrm flipV="1">
            <a:off x="6341532" y="4064213"/>
            <a:ext cx="878128" cy="340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36D8272-55F9-D18B-B4B5-CCE24800EFF4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1894071" y="2676971"/>
            <a:ext cx="74868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8299016-4814-F781-CA9B-73775455AF5B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2038249" y="6343087"/>
            <a:ext cx="690241" cy="54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A34F066-35BE-1F57-516D-A2A2349C90AD}"/>
              </a:ext>
            </a:extLst>
          </p:cNvPr>
          <p:cNvCxnSpPr/>
          <p:nvPr/>
        </p:nvCxnSpPr>
        <p:spPr>
          <a:xfrm>
            <a:off x="6341532" y="6249454"/>
            <a:ext cx="7824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Picture 42" descr="A diagram with white squares and black text&#10;&#10;AI-generated content may be incorrect.">
            <a:extLst>
              <a:ext uri="{FF2B5EF4-FFF2-40B4-BE49-F238E27FC236}">
                <a16:creationId xmlns:a16="http://schemas.microsoft.com/office/drawing/2014/main" id="{A50902D9-8C55-21EF-9017-75A50F8E311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6793" y="823243"/>
            <a:ext cx="3740504" cy="2690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2573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84*375"/>
  <p:tag name="TABLE_ENDDRAG_RECT" val="337*98*284*37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84*375"/>
  <p:tag name="TABLE_ENDDRAG_RECT" val="337*98*284*37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84*391"/>
  <p:tag name="TABLE_ENDDRAG_RECT" val="18*98*284*39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283</Words>
  <Application>Microsoft Office PowerPoint</Application>
  <PresentationFormat>Widescreen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Đạt Thành</dc:creator>
  <cp:lastModifiedBy>Đạt Thành</cp:lastModifiedBy>
  <cp:revision>1</cp:revision>
  <dcterms:created xsi:type="dcterms:W3CDTF">2025-11-20T07:19:51Z</dcterms:created>
  <dcterms:modified xsi:type="dcterms:W3CDTF">2025-11-20T08:35:23Z</dcterms:modified>
</cp:coreProperties>
</file>